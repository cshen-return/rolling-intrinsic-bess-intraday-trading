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6_DA591D8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AA5D77-58FA-A112-C187-69282AD6C28F}" name="C.Shen" initials="沈成刚" userId="C.She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6_DA591D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1B51C4-FBDC-4707-841B-B4E34484A0BC}" authorId="{2BAA5D77-58FA-A112-C187-69282AD6C28F}" created="2025-08-14T10:48:10.9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63273351" sldId="262"/>
      <ac:spMk id="3" creationId="{6D75378D-50A7-C184-481A-231959988992}"/>
    </ac:deMkLst>
    <p188:replyLst>
      <p188:reply id="{7C5DB0FC-6E60-435C-9449-81915ADE91A8}" authorId="{2BAA5D77-58FA-A112-C187-69282AD6C28F}" created="2025-08-14T10:48:28.713">
        <p188:txBody>
          <a:bodyPr/>
          <a:lstStyle/>
          <a:p>
            <a:r>
              <a:rPr lang="LID4096"/>
              <a:t>Threshold is  default 0
</a:t>
            </a:r>
          </a:p>
        </p188:txBody>
      </p188:reply>
    </p188:replyLst>
    <p188:txBody>
      <a:bodyPr/>
      <a:lstStyle/>
      <a:p>
        <a:r>
          <a:rPr lang="LID4096"/>
          <a:t>Don’t know exactly why extra 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AB6F-DE17-59D8-AAE2-7073D525C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0AD12-8CBE-C2A9-ECE6-F3ACB398C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D3C5-356B-73EA-E595-BF88BC4A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825BA-47D8-6E8E-012B-CA3D9926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9F92F-3C55-003E-5119-6810495E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185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5A60-3CC8-2029-7066-943DC27B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1321-916A-7A09-BB10-42B856ED7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3F7FE-CE1A-99D1-6193-B74B9E47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A380F-57A6-5E0E-45DF-673B0D01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F3162-0D56-DB8F-9C71-B3E58327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03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2022-CFEB-29BF-3340-F7293C68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05FAD-E87D-32EE-F190-71AA56EB9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AD560-D89D-E7C3-320B-9FBDC9E4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B69B-7C48-8C61-CB4F-43C49E3C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1629A-AB1A-F8BD-F965-18722EDF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352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ADFF-9618-6F0B-4E50-8E6E1462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7D22-3E03-2010-1FEB-C7B5962C5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0A6AC-514A-33E2-6813-DD458105D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C30CD-AC6D-AF9D-D837-99B03C90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9200-8432-18A0-1802-4925C626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EDE84-DE4F-2630-4A01-E3A37E2D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2375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0844-66BF-A526-91F2-500943BD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73837-C98B-9D56-A87F-D767D005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AF262-6EE2-F773-0BF5-8D94C7190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7E002-1B7C-5BAD-CBD7-6BFD39A4B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057C1-10CC-F08F-32C0-359AA082E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9E239-A9DD-2BEE-9690-194D9126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8950F-FCEC-D508-774D-0076CEA2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E8AF3-A860-9B7C-C363-651036C3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820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137B-4E1F-EA3B-3C0C-D4BFBF05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1382A-5CD2-17A6-E2D7-0D96B0C8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809CA-805D-CBC2-BF82-5229295C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D86FC-48BE-3777-995B-504C9D49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1887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F187A-8412-B7CD-AF74-050D4545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C2360-8F20-7E86-7AF3-6E865C96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A310E-7FB4-49F7-56B6-D2E4F863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732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BE69-4F33-1C51-A6A0-3F39C6F8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30953-1B00-07EA-9B19-278EF9CC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0C9EC-90F4-7ABC-3B72-A5DC6D4E8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4A656-E239-2A72-10A3-C25037A6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DE58D-C86C-5932-8374-7084F3F5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810F9-E58C-AE87-CDFE-51A7F317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74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2A37-A7EB-E187-6FC8-D88D06F3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AFC9F-40C7-B558-C358-3F40071AC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93A53-17B9-30C5-0F8B-FBD666B36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28092-4248-0304-F258-E5271503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097F7-88FF-36B7-C425-82666528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F90DE-BD59-3E9E-CBB1-81F1A563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106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5883-1688-D125-8ADF-41386CA3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39CAA-8FC5-FBF0-43CB-C8C95ED9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3088F-7375-6C5A-C3A3-44CCC3D9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D6A6-7B78-E8ED-0EC1-231AB655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57EFB-5473-2D31-1C80-703E90EC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04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4598D-212D-DFA6-702F-44669A8B5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58E4F-6399-5119-521B-8C3C4F25B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68DA-EF2A-A42F-8089-8383390D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03FD-94FF-D780-46F7-B4620858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0B48D-BC1A-D2A4-ED05-F069CB6F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96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D63B6-8952-2BD1-4ACE-A800797A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DC472-12E3-3D22-6854-9F060FFE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AB4F2-EBDF-2976-B132-A8FF88BF2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C8D15-A9DF-4E00-862D-98F7C193089D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C198C-A886-06A6-831A-78A1C5563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79F3D-CF74-4E67-2B07-CFDCC870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AED9B-30FC-47B8-BBEA-EC0B063944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58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ergy.acm.org/eir/an-algorithm-for-modelling-rolling-intrinsic-battery-trading-on-the-continuous-intraday-mark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DA591D8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E0C7-2BB7-E430-645F-50B0C6BDB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Rolling Intrinsic ID paper summary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3346-4A1B-9488-8E9F-A20487911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C.Shen 2025-8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9390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CCC0-342E-46D2-54EF-657BC2C0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Algorithm for Modelling Rolling Intrinsic Battery Trading on the Continuous Intraday Market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81E5-D9B6-DF7E-CE82-22607DAF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https://energy.acm.org/eir/an-algorithm-for-modelling-rolling-intrinsic-battery-trading-on-the-continuous-intraday-market/</a:t>
            </a:r>
            <a:endParaRPr lang="en-US" dirty="0"/>
          </a:p>
          <a:p>
            <a:r>
              <a:rPr lang="en-US" dirty="0"/>
              <a:t>Step-wise optimization for ID market</a:t>
            </a:r>
          </a:p>
          <a:p>
            <a:r>
              <a:rPr lang="en-US" dirty="0"/>
              <a:t>In each step, trying to maximize </a:t>
            </a:r>
            <a:r>
              <a:rPr lang="en-US" dirty="0" err="1"/>
              <a:t>PnL</a:t>
            </a:r>
            <a:r>
              <a:rPr lang="en-US" dirty="0"/>
              <a:t> from buying and selling from different contracts that are available during the time bucket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73346-A1D5-F586-0398-0EAB58E5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05" y="4219556"/>
            <a:ext cx="5767430" cy="263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EDA8-9B9A-F909-08B7-673D9BCA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DB20-37D7-D1E3-4D21-4E8E2EFA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max cycle count per day</a:t>
            </a:r>
          </a:p>
          <a:p>
            <a:r>
              <a:rPr lang="en-US" dirty="0"/>
              <a:t>Possible to add discount (battery time value) to the far-away trades</a:t>
            </a:r>
          </a:p>
          <a:p>
            <a:r>
              <a:rPr lang="en-US" dirty="0"/>
              <a:t>Includes RTE for SOC and split per charge/discharge</a:t>
            </a:r>
          </a:p>
          <a:p>
            <a:r>
              <a:rPr lang="en-US" dirty="0"/>
              <a:t>Use optimizers to arrange the </a:t>
            </a:r>
            <a:r>
              <a:rPr lang="en-US" dirty="0" err="1"/>
              <a:t>tradings</a:t>
            </a:r>
            <a:endParaRPr lang="en-US" dirty="0"/>
          </a:p>
          <a:p>
            <a:r>
              <a:rPr lang="en-US" dirty="0"/>
              <a:t>Implemented with database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7879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1FB4-1553-F585-1F67-B62B12EC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	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EB79-EC6E-EEC4-FBAC-4A898793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51338"/>
          </a:xfrm>
        </p:spPr>
        <p:txBody>
          <a:bodyPr/>
          <a:lstStyle/>
          <a:p>
            <a:r>
              <a:rPr lang="en-US" dirty="0"/>
              <a:t>Not using full limit order book. But use transaction book which is a subset</a:t>
            </a:r>
          </a:p>
          <a:p>
            <a:pPr lvl="1"/>
            <a:r>
              <a:rPr lang="en-US" dirty="0"/>
              <a:t>Pro: smaller data set</a:t>
            </a:r>
          </a:p>
          <a:p>
            <a:pPr lvl="1"/>
            <a:r>
              <a:rPr lang="en-US" dirty="0"/>
              <a:t>Con: </a:t>
            </a:r>
          </a:p>
          <a:p>
            <a:pPr lvl="2"/>
            <a:r>
              <a:rPr lang="en-US" dirty="0"/>
              <a:t>Not always tradable as the transaction may be taken by existing orders that are in the market</a:t>
            </a:r>
          </a:p>
          <a:p>
            <a:pPr lvl="2"/>
            <a:r>
              <a:rPr lang="en-US" dirty="0"/>
              <a:t>Not guarantee enough volume to trade (may be ok if the battery is small)</a:t>
            </a:r>
          </a:p>
          <a:p>
            <a:pPr lvl="2"/>
            <a:r>
              <a:rPr lang="en-US" dirty="0"/>
              <a:t>May miss some tradable market orders when they were not executed in historical data</a:t>
            </a:r>
            <a:br>
              <a:rPr lang="en-US" dirty="0"/>
            </a:b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EC338-3A29-40CD-DF81-816C56E58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85" y="5041900"/>
            <a:ext cx="5305464" cy="1185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2C8489-9DDA-E9BE-4996-279C8CF84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154" y="6242842"/>
            <a:ext cx="5515015" cy="5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9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744A-1ED9-CEFF-463B-9BFFF3FA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	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83FF5-0A28-EAD9-9CB8-449DEBE58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 in buckets with foresight data and use weighted average price</a:t>
            </a:r>
          </a:p>
          <a:p>
            <a:pPr lvl="1"/>
            <a:r>
              <a:rPr lang="en-US" dirty="0"/>
              <a:t>The algo design use bucket (default value is 15min)  to group enough orders and trade them at beginning of each bucket.</a:t>
            </a:r>
          </a:p>
          <a:p>
            <a:pPr lvl="1"/>
            <a:r>
              <a:rPr lang="en-US" dirty="0"/>
              <a:t>Because of the grouping, the algo is forced to use weighted average price in the bucket period</a:t>
            </a:r>
          </a:p>
          <a:p>
            <a:pPr lvl="1"/>
            <a:r>
              <a:rPr lang="en-US" dirty="0"/>
              <a:t>When the bucket is small enough, it may behave like Algo2 in real-world trading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4593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9862-B79C-ADC7-A1F8-2CF78B39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B69D-FF61-003B-9AA3-8A6B53640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RTE not included in </a:t>
            </a:r>
            <a:r>
              <a:rPr lang="en-US" dirty="0" err="1"/>
              <a:t>PnL</a:t>
            </a:r>
            <a:r>
              <a:rPr lang="en-US" dirty="0"/>
              <a:t> but only included in SOC</a:t>
            </a:r>
          </a:p>
          <a:p>
            <a:pPr lvl="1"/>
            <a:r>
              <a:rPr lang="en-US" dirty="0"/>
              <a:t>It fine if the SOC of each hour (or QH or HR) eventually come to 0 at the end of day. </a:t>
            </a:r>
          </a:p>
          <a:p>
            <a:pPr lvl="1"/>
            <a:r>
              <a:rPr lang="en-US" dirty="0"/>
              <a:t>But in reality, there are imbalances left. These may face the RTE loss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7BF07-F3E9-175B-99E4-BC1919668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39" y="3429000"/>
            <a:ext cx="7623690" cy="46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22F0-9EF3-00D0-E6E6-EBA4DFAC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	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82FB7-D514-B767-77F9-222A26D7C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over-sell may potentially loss some trading opportunities</a:t>
            </a:r>
          </a:p>
          <a:p>
            <a:pPr lvl="1"/>
            <a:r>
              <a:rPr lang="en-US" dirty="0"/>
              <a:t>No over-sell policy is implied in implementation of SOC in solver parameters</a:t>
            </a:r>
          </a:p>
          <a:p>
            <a:pPr lvl="1"/>
            <a:r>
              <a:rPr lang="en-US" dirty="0"/>
              <a:t>Means for same contract (hour), always charge first, then discharge</a:t>
            </a:r>
          </a:p>
          <a:p>
            <a:pPr lvl="1"/>
            <a:r>
              <a:rPr lang="en-US" dirty="0"/>
              <a:t>Means good selling opportunities may be lost for the beginning a few hours of a trading day </a:t>
            </a:r>
          </a:p>
        </p:txBody>
      </p:sp>
    </p:spTree>
    <p:extLst>
      <p:ext uri="{BB962C8B-B14F-4D97-AF65-F5344CB8AC3E}">
        <p14:creationId xmlns:p14="http://schemas.microsoft.com/office/powerpoint/2010/main" val="339351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19A6-90CD-204B-0EC1-E0EF6D17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378D-50A7-C184-481A-231959988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15"/>
            <a:ext cx="10515600" cy="4865748"/>
          </a:xfrm>
        </p:spPr>
        <p:txBody>
          <a:bodyPr>
            <a:normAutofit fontScale="85000" lnSpcReduction="10000"/>
          </a:bodyPr>
          <a:lstStyle/>
          <a:p>
            <a:r>
              <a:rPr lang="en-GB" dirty="0" err="1"/>
              <a:t>run_optimization_quarterhours_repositioning</a:t>
            </a:r>
            <a:r>
              <a:rPr lang="en-GB" dirty="0"/>
              <a:t>() is the core algo function</a:t>
            </a:r>
          </a:p>
          <a:p>
            <a:r>
              <a:rPr lang="en-GB" dirty="0"/>
              <a:t>Init condition:</a:t>
            </a:r>
          </a:p>
          <a:p>
            <a:pPr lvl="1"/>
            <a:r>
              <a:rPr lang="en-GB" dirty="0"/>
              <a:t>Initial SOC is 0</a:t>
            </a:r>
          </a:p>
          <a:p>
            <a:pPr lvl="1"/>
            <a:r>
              <a:rPr lang="en-GB" dirty="0"/>
              <a:t>RTE is square rooted for charge and discharge </a:t>
            </a:r>
            <a:r>
              <a:rPr lang="en-GB" dirty="0" err="1"/>
              <a:t>sparetely</a:t>
            </a:r>
            <a:endParaRPr lang="en-GB" dirty="0"/>
          </a:p>
          <a:p>
            <a:r>
              <a:rPr lang="en-GB" dirty="0" err="1"/>
              <a:t>Obj</a:t>
            </a:r>
            <a:r>
              <a:rPr lang="en-GB" dirty="0"/>
              <a:t> </a:t>
            </a:r>
            <a:r>
              <a:rPr lang="en-GB" dirty="0" err="1"/>
              <a:t>func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Sum(</a:t>
            </a:r>
            <a:r>
              <a:rPr lang="en-GB" dirty="0" err="1"/>
              <a:t>Sell_price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 – </a:t>
            </a:r>
            <a:r>
              <a:rPr lang="en-GB" dirty="0" err="1"/>
              <a:t>buy_price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 – e, for each </a:t>
            </a:r>
            <a:r>
              <a:rPr lang="en-GB" dirty="0" err="1"/>
              <a:t>i</a:t>
            </a:r>
            <a:r>
              <a:rPr lang="en-GB" dirty="0"/>
              <a:t> in the contracts)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With slightly adjusted obj function for the cases when </a:t>
            </a:r>
            <a:r>
              <a:rPr lang="en-US" dirty="0" err="1">
                <a:highlight>
                  <a:srgbClr val="FFFF00"/>
                </a:highlight>
              </a:rPr>
              <a:t>prev_net_charge</a:t>
            </a:r>
            <a:r>
              <a:rPr lang="en-US" dirty="0">
                <a:highlight>
                  <a:srgbClr val="FFFF00"/>
                </a:highlight>
              </a:rPr>
              <a:t>/discharge is 0 (introduce extra </a:t>
            </a:r>
            <a:r>
              <a:rPr lang="en-US" dirty="0" err="1">
                <a:highlight>
                  <a:srgbClr val="FFFF00"/>
                </a:highlight>
              </a:rPr>
              <a:t>threshold+e</a:t>
            </a:r>
            <a:r>
              <a:rPr lang="en-US" dirty="0">
                <a:highlight>
                  <a:srgbClr val="FFFF00"/>
                </a:highlight>
              </a:rPr>
              <a:t>  to the buy/sell spread)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dirty="0"/>
              <a:t>Boundaries:</a:t>
            </a:r>
          </a:p>
          <a:p>
            <a:pPr lvl="1"/>
            <a:r>
              <a:rPr lang="en-GB" dirty="0"/>
              <a:t>SOC within [0,1] </a:t>
            </a:r>
          </a:p>
          <a:p>
            <a:pPr lvl="1"/>
            <a:r>
              <a:rPr lang="en-GB" dirty="0" err="1"/>
              <a:t>Net_buy</a:t>
            </a:r>
            <a:r>
              <a:rPr lang="en-GB" dirty="0"/>
              <a:t> or </a:t>
            </a:r>
            <a:r>
              <a:rPr lang="en-GB" dirty="0" err="1"/>
              <a:t>net_sell</a:t>
            </a:r>
            <a:r>
              <a:rPr lang="en-GB" dirty="0"/>
              <a:t> in an hour cannot be more than cap*</a:t>
            </a:r>
            <a:r>
              <a:rPr lang="en-GB" dirty="0" err="1"/>
              <a:t>c_rate</a:t>
            </a:r>
            <a:r>
              <a:rPr lang="en-GB" dirty="0"/>
              <a:t>, which is the power limit of the battery (in MW)</a:t>
            </a:r>
          </a:p>
          <a:p>
            <a:pPr lvl="1"/>
            <a:r>
              <a:rPr lang="en-GB" dirty="0"/>
              <a:t>Cannot exceed total cycle count for each day  (use </a:t>
            </a:r>
            <a:r>
              <a:rPr lang="en-GB" dirty="0" err="1"/>
              <a:t>net_buy</a:t>
            </a:r>
            <a:r>
              <a:rPr lang="en-GB" dirty="0"/>
              <a:t> as </a:t>
            </a:r>
            <a:r>
              <a:rPr lang="en-GB" dirty="0" err="1"/>
              <a:t>obj</a:t>
            </a:r>
            <a:r>
              <a:rPr lang="en-GB" dirty="0"/>
              <a:t> </a:t>
            </a:r>
            <a:r>
              <a:rPr lang="en-GB" dirty="0" err="1"/>
              <a:t>func</a:t>
            </a:r>
            <a:r>
              <a:rPr lang="en-GB" dirty="0"/>
              <a:t> will tend to sell the positions at the end of same day) </a:t>
            </a:r>
          </a:p>
          <a:p>
            <a:pPr lvl="1"/>
            <a:endParaRPr lang="en-GB" dirty="0">
              <a:highlight>
                <a:srgbClr val="FFFF00"/>
              </a:highlight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32733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4292-F80B-4526-1AEF-06D0763D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A8E2-3997-52D5-A0BC-609D5BE83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8473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Hidden boundaries:</a:t>
            </a:r>
          </a:p>
          <a:p>
            <a:pPr lvl="1"/>
            <a:r>
              <a:rPr lang="en-GB" dirty="0" err="1"/>
              <a:t>Current_buy_qh</a:t>
            </a:r>
            <a:r>
              <a:rPr lang="en-GB" dirty="0"/>
              <a:t> for </a:t>
            </a:r>
            <a:r>
              <a:rPr lang="en-GB" dirty="0" err="1"/>
              <a:t>PnL</a:t>
            </a:r>
            <a:r>
              <a:rPr lang="en-GB" dirty="0"/>
              <a:t> is always linked to </a:t>
            </a:r>
            <a:r>
              <a:rPr lang="en-GB" dirty="0" err="1"/>
              <a:t>Net_buy</a:t>
            </a:r>
            <a:r>
              <a:rPr lang="en-GB" dirty="0"/>
              <a:t> in the same period</a:t>
            </a:r>
          </a:p>
          <a:p>
            <a:pPr lvl="2"/>
            <a:r>
              <a:rPr lang="en-GB" dirty="0" err="1"/>
              <a:t>Current_buy_qh</a:t>
            </a:r>
            <a:r>
              <a:rPr lang="en-GB" dirty="0"/>
              <a:t> and </a:t>
            </a:r>
            <a:r>
              <a:rPr lang="en-GB" dirty="0" err="1"/>
              <a:t>current_sell_qh</a:t>
            </a:r>
            <a:r>
              <a:rPr lang="en-GB" dirty="0"/>
              <a:t> will not be non-zero at same time due to the ‘e’ in </a:t>
            </a:r>
            <a:r>
              <a:rPr lang="en-GB" dirty="0" err="1"/>
              <a:t>obj</a:t>
            </a:r>
            <a:r>
              <a:rPr lang="en-GB" dirty="0"/>
              <a:t> function </a:t>
            </a:r>
          </a:p>
          <a:p>
            <a:pPr lvl="2"/>
            <a:r>
              <a:rPr lang="en-GB" dirty="0" err="1"/>
              <a:t>net_buy</a:t>
            </a:r>
            <a:r>
              <a:rPr lang="en-GB" dirty="0"/>
              <a:t> and </a:t>
            </a:r>
            <a:r>
              <a:rPr lang="en-GB" dirty="0" err="1"/>
              <a:t>net_sell</a:t>
            </a:r>
            <a:r>
              <a:rPr lang="en-GB" dirty="0"/>
              <a:t> has constraint via ‘w’ and ‘z’, cannot be non-zero at same time</a:t>
            </a:r>
          </a:p>
          <a:p>
            <a:pPr lvl="2"/>
            <a:r>
              <a:rPr lang="en-GB" dirty="0"/>
              <a:t>Via the constraint of ‘w-z’ ,  </a:t>
            </a:r>
            <a:r>
              <a:rPr lang="en-GB" dirty="0" err="1"/>
              <a:t>current_buy_qh</a:t>
            </a:r>
            <a:r>
              <a:rPr lang="en-GB" dirty="0"/>
              <a:t> and </a:t>
            </a:r>
            <a:r>
              <a:rPr lang="en-GB" dirty="0" err="1"/>
              <a:t>current_sell_qh</a:t>
            </a:r>
            <a:r>
              <a:rPr lang="en-GB" dirty="0"/>
              <a:t> are linked with </a:t>
            </a:r>
            <a:r>
              <a:rPr lang="en-GB" dirty="0" err="1"/>
              <a:t>net_buy</a:t>
            </a:r>
            <a:r>
              <a:rPr lang="en-GB" dirty="0"/>
              <a:t> and </a:t>
            </a:r>
            <a:r>
              <a:rPr lang="en-GB" dirty="0" err="1"/>
              <a:t>net_sell</a:t>
            </a:r>
            <a:r>
              <a:rPr lang="en-GB" dirty="0"/>
              <a:t>. Eventually </a:t>
            </a:r>
            <a:r>
              <a:rPr lang="en-GB" dirty="0" err="1"/>
              <a:t>current_buy_qh</a:t>
            </a:r>
            <a:r>
              <a:rPr lang="en-GB" dirty="0"/>
              <a:t>  is equal to </a:t>
            </a:r>
            <a:r>
              <a:rPr lang="en-GB" dirty="0" err="1"/>
              <a:t>Net_buy</a:t>
            </a:r>
            <a:r>
              <a:rPr lang="en-GB" dirty="0"/>
              <a:t> or equal to </a:t>
            </a:r>
            <a:r>
              <a:rPr lang="en-GB" dirty="0" err="1"/>
              <a:t>Net_buy+prev_sell</a:t>
            </a:r>
            <a:r>
              <a:rPr lang="en-GB" dirty="0"/>
              <a:t>  and </a:t>
            </a:r>
            <a:r>
              <a:rPr lang="en-GB" dirty="0" err="1"/>
              <a:t>current_sell_qh</a:t>
            </a:r>
            <a:r>
              <a:rPr lang="en-GB" dirty="0"/>
              <a:t> is equal to </a:t>
            </a:r>
            <a:r>
              <a:rPr lang="en-GB" dirty="0" err="1"/>
              <a:t>net_sell</a:t>
            </a:r>
            <a:r>
              <a:rPr lang="en-GB" dirty="0"/>
              <a:t> or equal to </a:t>
            </a:r>
            <a:r>
              <a:rPr lang="en-GB" dirty="0" err="1"/>
              <a:t>net_sell</a:t>
            </a:r>
            <a:r>
              <a:rPr lang="en-GB" dirty="0"/>
              <a:t> +</a:t>
            </a:r>
            <a:r>
              <a:rPr lang="en-GB" dirty="0" err="1"/>
              <a:t>prev_buy</a:t>
            </a:r>
            <a:endParaRPr lang="en-GB" dirty="0"/>
          </a:p>
          <a:p>
            <a:pPr lvl="1"/>
            <a:r>
              <a:rPr lang="en-US" dirty="0"/>
              <a:t>Always charge first, then discharge in the same day</a:t>
            </a:r>
          </a:p>
          <a:p>
            <a:pPr lvl="2"/>
            <a:r>
              <a:rPr lang="en-US" dirty="0"/>
              <a:t>SOC has a lower bound of 0 means no over-discharge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This means selecting the start time of the trading day is crucial </a:t>
            </a:r>
          </a:p>
          <a:p>
            <a:pPr lvl="1"/>
            <a:r>
              <a:rPr lang="en-US" dirty="0"/>
              <a:t>In the same day, later SOCs will tends to be 0</a:t>
            </a:r>
          </a:p>
          <a:p>
            <a:pPr lvl="2"/>
            <a:r>
              <a:rPr lang="en-US" dirty="0"/>
              <a:t>The obj function encourage selling existing positions</a:t>
            </a:r>
          </a:p>
          <a:p>
            <a:pPr lvl="2"/>
            <a:r>
              <a:rPr lang="en-US" dirty="0"/>
              <a:t>The SOC limit forbids over-sell </a:t>
            </a:r>
          </a:p>
          <a:p>
            <a:pPr lvl="2"/>
            <a:r>
              <a:rPr lang="en-US" dirty="0"/>
              <a:t>There’s a ‘battery balance’ constraint passes SOC from earlier period (in the day) to later period, but not reversed order</a:t>
            </a:r>
          </a:p>
          <a:p>
            <a:pPr lvl="2"/>
            <a:r>
              <a:rPr lang="en-US" dirty="0"/>
              <a:t>So the SOC will tend to remain 0 at the end of day unless there’s a good buying opportunity but in later period it will be sold. </a:t>
            </a:r>
          </a:p>
          <a:p>
            <a:pPr lvl="1"/>
            <a:r>
              <a:rPr lang="en-US" dirty="0"/>
              <a:t>For the same contract, SOC do NOT tend to recover to 0</a:t>
            </a:r>
          </a:p>
          <a:p>
            <a:pPr lvl="2"/>
            <a:r>
              <a:rPr lang="en-US" dirty="0"/>
              <a:t>So may have RTE issues.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96782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774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Rolling Intrinsic ID paper summary</vt:lpstr>
      <vt:lpstr>An Algorithm for Modelling Rolling Intrinsic Battery Trading on the Continuous Intraday Market</vt:lpstr>
      <vt:lpstr>Pros</vt:lpstr>
      <vt:lpstr>Cons </vt:lpstr>
      <vt:lpstr>Cons </vt:lpstr>
      <vt:lpstr>Cons</vt:lpstr>
      <vt:lpstr>Cons </vt:lpstr>
      <vt:lpstr>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C.Shen</dc:creator>
  <cp:lastModifiedBy>C.Shen</cp:lastModifiedBy>
  <cp:revision>3</cp:revision>
  <dcterms:created xsi:type="dcterms:W3CDTF">2025-08-14T09:28:20Z</dcterms:created>
  <dcterms:modified xsi:type="dcterms:W3CDTF">2025-08-14T10:48:36Z</dcterms:modified>
</cp:coreProperties>
</file>